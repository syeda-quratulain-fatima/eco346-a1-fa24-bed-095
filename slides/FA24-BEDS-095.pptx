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76148" autoAdjust="0"/>
  </p:normalViewPr>
  <p:slideViewPr>
    <p:cSldViewPr snapToGrid="0" snapToObjects="1">
      <p:cViewPr varScale="1">
        <p:scale>
          <a:sx n="119" d="100"/>
          <a:sy n="119" d="100"/>
        </p:scale>
        <p:origin x="56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5F6672"/>
                </a:solidFill>
                <a:latin typeface="+mn-lt"/>
              </a:defRPr>
            </a:pPr>
            <a:r>
              <a:rPr lang="en-US" sz="1200" b="0" i="0" u="none" strike="noStrike">
                <a:solidFill>
                  <a:srgbClr val="5F6672"/>
                </a:solidFill>
                <a:latin typeface="+mn-lt"/>
              </a:rPr>
              <a:t>Weighted mean earnings by age band (Rs). Amber = under 30 earners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Weighted mean earnings (Rs)</c:v>
                </c:pt>
              </c:strCache>
            </c:strRef>
          </c:tx>
          <c:spPr>
            <a:solidFill>
              <a:srgbClr val="D98E04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D98E0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5D3F-46DD-A795-CB4DB291574E}"/>
              </c:ext>
            </c:extLst>
          </c:dPt>
          <c:dPt>
            <c:idx val="1"/>
            <c:invertIfNegative val="0"/>
            <c:bubble3D val="0"/>
            <c:spPr>
              <a:solidFill>
                <a:srgbClr val="4B556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D3F-46DD-A795-CB4DB291574E}"/>
              </c:ext>
            </c:extLst>
          </c:dPt>
          <c:dPt>
            <c:idx val="2"/>
            <c:invertIfNegative val="0"/>
            <c:bubble3D val="0"/>
            <c:spPr>
              <a:solidFill>
                <a:srgbClr val="4B556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D3F-46DD-A795-CB4DB291574E}"/>
              </c:ext>
            </c:extLst>
          </c:dPt>
          <c:dPt>
            <c:idx val="3"/>
            <c:invertIfNegative val="0"/>
            <c:bubble3D val="0"/>
            <c:spPr>
              <a:solidFill>
                <a:srgbClr val="4B556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5D3F-46DD-A795-CB4DB291574E}"/>
              </c:ext>
            </c:extLst>
          </c:dPt>
          <c:dPt>
            <c:idx val="4"/>
            <c:invertIfNegative val="0"/>
            <c:bubble3D val="0"/>
            <c:spPr>
              <a:solidFill>
                <a:srgbClr val="4B556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5D3F-46DD-A795-CB4DB291574E}"/>
              </c:ext>
            </c:extLst>
          </c:dPt>
          <c:dPt>
            <c:idx val="5"/>
            <c:invertIfNegative val="0"/>
            <c:bubble3D val="0"/>
            <c:spPr>
              <a:solidFill>
                <a:srgbClr val="4B556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5D3F-46DD-A795-CB4DB291574E}"/>
              </c:ext>
            </c:extLst>
          </c:dPt>
          <c:dPt>
            <c:idx val="6"/>
            <c:invertIfNegative val="0"/>
            <c:bubble3D val="0"/>
            <c:spPr>
              <a:solidFill>
                <a:srgbClr val="4B556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5D3F-46DD-A795-CB4DB291574E}"/>
              </c:ext>
            </c:extLst>
          </c:dPt>
          <c:dPt>
            <c:idx val="7"/>
            <c:invertIfNegative val="0"/>
            <c:bubble3D val="0"/>
            <c:spPr>
              <a:solidFill>
                <a:srgbClr val="4B556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5D3F-46DD-A795-CB4DB291574E}"/>
              </c:ext>
            </c:extLst>
          </c:dPt>
          <c:dPt>
            <c:idx val="8"/>
            <c:invertIfNegative val="0"/>
            <c:bubble3D val="0"/>
            <c:spPr>
              <a:solidFill>
                <a:srgbClr val="D98E0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5D3F-46DD-A795-CB4DB291574E}"/>
              </c:ext>
            </c:extLst>
          </c:dPt>
          <c:dPt>
            <c:idx val="9"/>
            <c:invertIfNegative val="0"/>
            <c:bubble3D val="0"/>
            <c:spPr>
              <a:solidFill>
                <a:srgbClr val="D98E0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5D3F-46DD-A795-CB4DB291574E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F2328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15–19</c:v>
                </c:pt>
                <c:pt idx="1">
                  <c:v>20–24</c:v>
                </c:pt>
                <c:pt idx="2">
                  <c:v>25–29</c:v>
                </c:pt>
                <c:pt idx="3">
                  <c:v>30–34</c:v>
                </c:pt>
                <c:pt idx="4">
                  <c:v>35–39</c:v>
                </c:pt>
                <c:pt idx="5">
                  <c:v>40–44</c:v>
                </c:pt>
                <c:pt idx="6">
                  <c:v>45–49</c:v>
                </c:pt>
                <c:pt idx="7">
                  <c:v>50–54</c:v>
                </c:pt>
                <c:pt idx="8">
                  <c:v>55–59</c:v>
                </c:pt>
                <c:pt idx="9">
                  <c:v>60–64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113382</c:v>
                </c:pt>
                <c:pt idx="1">
                  <c:v>220435</c:v>
                </c:pt>
                <c:pt idx="2">
                  <c:v>307994</c:v>
                </c:pt>
                <c:pt idx="3">
                  <c:v>316659</c:v>
                </c:pt>
                <c:pt idx="4">
                  <c:v>302071</c:v>
                </c:pt>
                <c:pt idx="5">
                  <c:v>316147</c:v>
                </c:pt>
                <c:pt idx="6">
                  <c:v>372723</c:v>
                </c:pt>
                <c:pt idx="7">
                  <c:v>399250</c:v>
                </c:pt>
                <c:pt idx="8">
                  <c:v>350772</c:v>
                </c:pt>
                <c:pt idx="9">
                  <c:v>476422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5D3F-46DD-A795-CB4DB291574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32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00000"/>
          <c:min val="0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89807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685800"/>
            <a:ext cx="804672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68580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Earnings and Age in Urban Balochistan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1945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accent3"/>
                </a:solidFill>
              </a:rPr>
              <a:t>PSLM 2019–20  |  ECO346 Data Visualization  |  Assignment 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6060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Syeda Quratulain Fatima  |  FA24-BED-095  |  Section A</a:t>
            </a:r>
            <a:endParaRPr lang="en-US" sz="1600" dirty="0"/>
          </a:p>
        </p:txBody>
      </p:sp>
      <p:sp>
        <p:nvSpPr>
          <p:cNvPr id="5" name="Info card 1"/>
          <p:cNvSpPr/>
          <p:nvPr/>
        </p:nvSpPr>
        <p:spPr>
          <a:xfrm>
            <a:off x="548640" y="3429000"/>
            <a:ext cx="2560320" cy="1143000"/>
          </a:xfrm>
          <a:prstGeom prst="roundRect">
            <a:avLst>
              <a:gd name="adj" fmla="val 8000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685800" y="3429000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Variant 7</a:t>
            </a:r>
            <a:endParaRPr lang="en-US" sz="20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95 = 11 × 8 + 7, so Balochistan urban</a:t>
            </a:r>
            <a:endParaRPr lang="en-US" sz="2000" dirty="0"/>
          </a:p>
        </p:txBody>
      </p:sp>
      <p:sp>
        <p:nvSpPr>
          <p:cNvPr id="7" name="Info card 2"/>
          <p:cNvSpPr/>
          <p:nvPr/>
        </p:nvSpPr>
        <p:spPr>
          <a:xfrm>
            <a:off x="3291840" y="3429000"/>
            <a:ext cx="2560320" cy="1143000"/>
          </a:xfrm>
          <a:prstGeom prst="roundRect">
            <a:avLst>
              <a:gd name="adj" fmla="val 8000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 txBox="1"/>
          <p:nvPr/>
        </p:nvSpPr>
        <p:spPr>
          <a:xfrm>
            <a:off x="3429000" y="3429000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486 earners</a:t>
            </a:r>
            <a:endParaRPr lang="en-US" sz="20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Aged 15 to 64, earnings above zero</a:t>
            </a:r>
            <a:endParaRPr lang="en-US" sz="2000" dirty="0"/>
          </a:p>
        </p:txBody>
      </p:sp>
      <p:sp>
        <p:nvSpPr>
          <p:cNvPr id="9" name="Info card 3"/>
          <p:cNvSpPr/>
          <p:nvPr/>
        </p:nvSpPr>
        <p:spPr>
          <a:xfrm>
            <a:off x="6035040" y="3429000"/>
            <a:ext cx="2560320" cy="1143000"/>
          </a:xfrm>
          <a:prstGeom prst="roundRect">
            <a:avLst>
              <a:gd name="adj" fmla="val 8000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6172200" y="3429000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Weighted</a:t>
            </a:r>
            <a:endParaRPr lang="en-US" sz="20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Every number uses household weight (hhweight)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Half earn Rs 250,000 or less</a:t>
            </a:r>
            <a:endParaRPr lang="en-US" sz="3600" dirty="0"/>
          </a:p>
        </p:txBody>
      </p:sp>
      <p:sp>
        <p:nvSpPr>
          <p:cNvPr id="5" name="Stat card 1"/>
          <p:cNvSpPr/>
          <p:nvPr/>
        </p:nvSpPr>
        <p:spPr>
          <a:xfrm>
            <a:off x="5349240" y="1097280"/>
            <a:ext cx="160020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5440680" y="1097280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Rs 250,000</a:t>
            </a:r>
            <a:endParaRPr lang="en-US" sz="20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Weighted median</a:t>
            </a:r>
            <a:endParaRPr lang="en-US" sz="2000" dirty="0"/>
          </a:p>
        </p:txBody>
      </p:sp>
      <p:sp>
        <p:nvSpPr>
          <p:cNvPr id="7" name="Stat card 2"/>
          <p:cNvSpPr/>
          <p:nvPr/>
        </p:nvSpPr>
        <p:spPr>
          <a:xfrm>
            <a:off x="7086600" y="1097280"/>
            <a:ext cx="160020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 txBox="1"/>
          <p:nvPr/>
        </p:nvSpPr>
        <p:spPr>
          <a:xfrm>
            <a:off x="7178040" y="1097280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Rs 264,000</a:t>
            </a:r>
            <a:endParaRPr lang="en-US" sz="20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Unweighted median</a:t>
            </a:r>
            <a:endParaRPr lang="en-US" sz="2000" dirty="0"/>
          </a:p>
        </p:txBody>
      </p:sp>
      <p:sp>
        <p:nvSpPr>
          <p:cNvPr id="9" name="Stat card 3"/>
          <p:cNvSpPr/>
          <p:nvPr/>
        </p:nvSpPr>
        <p:spPr>
          <a:xfrm>
            <a:off x="5349240" y="2103120"/>
            <a:ext cx="160020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5440680" y="2103120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Rs 96,000</a:t>
            </a:r>
            <a:endParaRPr lang="en-US" sz="20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10th percentile (P10)</a:t>
            </a:r>
            <a:endParaRPr lang="en-US" sz="2000" dirty="0"/>
          </a:p>
        </p:txBody>
      </p:sp>
      <p:sp>
        <p:nvSpPr>
          <p:cNvPr id="11" name="Stat card 4"/>
          <p:cNvSpPr/>
          <p:nvPr/>
        </p:nvSpPr>
        <p:spPr>
          <a:xfrm>
            <a:off x="7086600" y="2103120"/>
            <a:ext cx="160020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7178040" y="2103120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Rs 540,000</a:t>
            </a:r>
            <a:endParaRPr lang="en-US" sz="20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90th percentile (P90)</a:t>
            </a:r>
            <a:endParaRPr lang="en-US" sz="2000" dirty="0"/>
          </a:p>
        </p:txBody>
      </p:sp>
      <p:sp>
        <p:nvSpPr>
          <p:cNvPr id="13" name="Stat card 5"/>
          <p:cNvSpPr/>
          <p:nvPr/>
        </p:nvSpPr>
        <p:spPr>
          <a:xfrm>
            <a:off x="5349240" y="3108960"/>
            <a:ext cx="160020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 txBox="1"/>
          <p:nvPr/>
        </p:nvSpPr>
        <p:spPr>
          <a:xfrm>
            <a:off x="5440680" y="3108960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5.625</a:t>
            </a:r>
            <a:endParaRPr lang="en-US" sz="20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Ratio P90 ÷ P10</a:t>
            </a:r>
            <a:endParaRPr lang="en-US" sz="2000" dirty="0"/>
          </a:p>
        </p:txBody>
      </p:sp>
      <p:sp>
        <p:nvSpPr>
          <p:cNvPr id="15" name="Stat card 6"/>
          <p:cNvSpPr/>
          <p:nvPr/>
        </p:nvSpPr>
        <p:spPr>
          <a:xfrm>
            <a:off x="7086600" y="3108960"/>
            <a:ext cx="160020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 txBox="1"/>
          <p:nvPr/>
        </p:nvSpPr>
        <p:spPr>
          <a:xfrm>
            <a:off x="7178040" y="3108960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0</a:t>
            </a:r>
            <a:endParaRPr lang="en-US" sz="20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Earners excluded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411480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The weighted median is a little lower, because the weights give more voice to lower-earning households. The gap is only about 5%.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11EF729F-EF35-B11F-EF14-6B90D9A1C2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199" y="1097280"/>
            <a:ext cx="4572001" cy="2857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Default plot vs redesign</a:t>
            </a:r>
            <a:endParaRPr lang="en-US" sz="3600" dirty="0"/>
          </a:p>
        </p:txBody>
      </p:sp>
      <p:sp>
        <p:nvSpPr>
          <p:cNvPr id="7" name="Number badge 1"/>
          <p:cNvSpPr/>
          <p:nvPr/>
        </p:nvSpPr>
        <p:spPr>
          <a:xfrm>
            <a:off x="6263640" y="118872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 txBox="1"/>
          <p:nvPr/>
        </p:nvSpPr>
        <p:spPr>
          <a:xfrm>
            <a:off x="6263640" y="1188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812280" y="109728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Log scale in rupees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Spreads out the crowded points</a:t>
            </a:r>
            <a:endParaRPr lang="en-US" sz="1400" dirty="0"/>
          </a:p>
        </p:txBody>
      </p:sp>
      <p:sp>
        <p:nvSpPr>
          <p:cNvPr id="10" name="Number badge 2"/>
          <p:cNvSpPr/>
          <p:nvPr/>
        </p:nvSpPr>
        <p:spPr>
          <a:xfrm>
            <a:off x="6263640" y="205740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6263640" y="2057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812280" y="196596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Transparency 0.4 and jitter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Shows where earners cluster</a:t>
            </a:r>
            <a:endParaRPr lang="en-US" sz="1400" dirty="0"/>
          </a:p>
        </p:txBody>
      </p:sp>
      <p:sp>
        <p:nvSpPr>
          <p:cNvPr id="13" name="Number badge 3"/>
          <p:cNvSpPr/>
          <p:nvPr/>
        </p:nvSpPr>
        <p:spPr>
          <a:xfrm>
            <a:off x="6263640" y="292608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 txBox="1"/>
          <p:nvPr/>
        </p:nvSpPr>
        <p:spPr>
          <a:xfrm>
            <a:off x="6263640" y="2926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812280" y="283464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Weighted band means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Hollow = under 30 earners</a:t>
            </a:r>
            <a:endParaRPr lang="en-US" sz="1400" dirty="0"/>
          </a:p>
        </p:txBody>
      </p:sp>
      <p:sp>
        <p:nvSpPr>
          <p:cNvPr id="16" name="Takeaway box"/>
          <p:cNvSpPr/>
          <p:nvPr/>
        </p:nvSpPr>
        <p:spPr>
          <a:xfrm>
            <a:off x="457200" y="3840480"/>
            <a:ext cx="822960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640080" y="384048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What the default shows better: </a:t>
            </a:r>
            <a:r>
              <a:rPr lang="en-US" sz="1400" dirty="0">
                <a:solidFill>
                  <a:schemeClr val="tx1"/>
                </a:solidFill>
              </a:rPr>
              <a:t>how far the top earners (up to about Rs 3,000,000) sit above everyone else. The log scale squeezes that gap.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D79B3B8E-10F0-5037-5E91-9ECE09E05C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6838" y="1097280"/>
            <a:ext cx="1653714" cy="25146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802B46EE-5DD0-76E4-57C8-75DFC9440C1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406316" y="1082842"/>
            <a:ext cx="3785936" cy="260283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Pay rises, then levels off</a:t>
            </a:r>
            <a:endParaRPr lang="en-US" sz="36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005840"/>
          <a:ext cx="466344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394960" y="100584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Rises fast until 25–29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Rs 113,382 at ages 15–19 to Rs 307,994 at ages 25–29.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394960" y="196596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Then about level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Around Rs 300,000–317,000 until the early 40s.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394960" y="292608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Be careful with 60–64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Highest mean (Rs 476,422), but only 16 earners.</a:t>
            </a:r>
            <a:endParaRPr lang="en-US" sz="1600" dirty="0"/>
          </a:p>
        </p:txBody>
      </p:sp>
      <p:sp>
        <p:nvSpPr>
          <p:cNvPr id="7" name="Limit and check box"/>
          <p:cNvSpPr/>
          <p:nvPr/>
        </p:nvSpPr>
        <p:spPr>
          <a:xfrm>
            <a:off x="457200" y="3977640"/>
            <a:ext cx="822960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5"/>
          <p:cNvSpPr txBox="1"/>
          <p:nvPr/>
        </p:nvSpPr>
        <p:spPr>
          <a:xfrm>
            <a:off x="640080" y="39776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Limit: </a:t>
            </a:r>
            <a:r>
              <a:rPr lang="en-US" sz="1400" dirty="0">
                <a:solidFill>
                  <a:schemeClr val="tx1"/>
                </a:solidFill>
              </a:rPr>
              <a:t>this compares different people in one year, so it cannot show one person's career path.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Check: </a:t>
            </a:r>
            <a:r>
              <a:rPr lang="en-US" sz="1400" dirty="0">
                <a:solidFill>
                  <a:schemeClr val="tx1"/>
                </a:solidFill>
              </a:rPr>
              <a:t>R and Python band tables match to the rupee (25–29: Rs 307,994 in both).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arnings Deck">
  <a:themeElements>
    <a:clrScheme name="Earnings Deck">
      <a:dk1>
        <a:srgbClr val="1F2328"/>
      </a:dk1>
      <a:lt1>
        <a:srgbClr val="FFFFFF"/>
      </a:lt1>
      <a:dk2>
        <a:srgbClr val="2B2F36"/>
      </a:dk2>
      <a:lt2>
        <a:srgbClr val="F3F2F0"/>
      </a:lt2>
      <a:accent1>
        <a:srgbClr val="B22222"/>
      </a:accent1>
      <a:accent2>
        <a:srgbClr val="4B5563"/>
      </a:accent2>
      <a:accent3>
        <a:srgbClr val="9AA0A8"/>
      </a:accent3>
      <a:accent4>
        <a:srgbClr val="D98E04"/>
      </a:accent4>
      <a:accent5>
        <a:srgbClr val="2E7D6B"/>
      </a:accent5>
      <a:accent6>
        <a:srgbClr val="5F6672"/>
      </a:accent6>
      <a:hlink>
        <a:srgbClr val="4B5563"/>
      </a:hlink>
      <a:folHlink>
        <a:srgbClr val="5F6672"/>
      </a:folHlink>
    </a:clrScheme>
    <a:fontScheme name="Earnings Dec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285</Words>
  <Application>Microsoft Office PowerPoint</Application>
  <PresentationFormat>On-screen Show (16:9)</PresentationFormat>
  <Paragraphs>51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Earnings Deck</vt:lpstr>
      <vt:lpstr>Earnings and Age in Urban Balochistan</vt:lpstr>
      <vt:lpstr>Half earn Rs 250,000 or less</vt:lpstr>
      <vt:lpstr>Default plot vs redesign</vt:lpstr>
      <vt:lpstr>Pay rises, then levels off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Earnings and Age in Urban Balochistan</dc:title>
  <dc:subject>PptxGenJS Presentation</dc:subject>
  <dc:creator>Syeda Quratulain Fatima</dc:creator>
  <cp:lastModifiedBy>Syeda Quratulain</cp:lastModifiedBy>
  <cp:revision>4</cp:revision>
  <dcterms:created xsi:type="dcterms:W3CDTF">2026-10-25T13:04:09Z</dcterms:created>
  <dcterms:modified xsi:type="dcterms:W3CDTF">2026-10-26T16:46:26Z</dcterms:modified>
</cp:coreProperties>
</file>